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20000">
            <a:off x="-2286000" y="-2926080"/>
            <a:ext cx="9601200" cy="9144000"/>
          </a:xfrm>
          <a:prstGeom prst="rect">
            <a:avLst/>
          </a:prstGeom>
        </p:spPr>
      </p:pic>
      <p:pic>
        <p:nvPicPr>
          <p:cNvPr id="3" name="Picture 2" descr="blob_b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1430000" y="3657600"/>
            <a:ext cx="10058400" cy="1051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3566160"/>
            <a:ext cx="1243584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3F4650"/>
                </a:solidFill>
                <a:latin typeface="Arial"/>
              </a:rPr>
              <a:t>Cross-Institution Notice Verification &amp; Temporal Reliability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580644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Arial"/>
              </a:rPr>
              <a:t>UCS503 · Software Engineering Lab  —  Team FinalSay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0000">
            <a:off x="-2743200" y="3200400"/>
            <a:ext cx="9601200" cy="8686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37160"/>
            <a:ext cx="1234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754880" cy="2148840"/>
          </a:xfrm>
          <a:prstGeom prst="roundRect">
            <a:avLst>
              <a:gd name="adj" fmla="val 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64208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6642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00" b="1" i="0" spc="80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4242816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Notices reach students through forwards, screenshots and group-chat messages. A stale or edited version looks identical to the current one, so nobody can confirm what still 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828800"/>
            <a:ext cx="4754880" cy="2148840"/>
          </a:xfrm>
          <a:prstGeom prst="roundRect">
            <a:avLst>
              <a:gd name="adj" fmla="val 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44768" y="1664208"/>
            <a:ext cx="438912" cy="438912"/>
          </a:xfrm>
          <a:prstGeom prst="ellipse">
            <a:avLst/>
          </a:prstGeom>
          <a:solidFill>
            <a:srgbClr val="D98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6642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16642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00" b="1" i="0" spc="80">
                <a:solidFill>
                  <a:srgbClr val="FFFFFF"/>
                </a:solidFill>
                <a:latin typeface="Arial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4242816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This is not a distribution problem — it is a trust problem. The notice already reached the student; what is missing is confirmation that it matches the official record and visibility into how it 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12296" y="1828800"/>
            <a:ext cx="4754880" cy="2148840"/>
          </a:xfrm>
          <a:prstGeom prst="roundRect">
            <a:avLst>
              <a:gd name="adj" fmla="val 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58016" y="1664208"/>
            <a:ext cx="438912" cy="438912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58016" y="16642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06656" y="166420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00" b="1" i="0" spc="8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68328" y="2286000"/>
            <a:ext cx="4242816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A verification layer that redacts personal data, matches a submitted notice against the official record, and classifies the relationship — consistent, contradictory, superseded or unresolved.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70248"/>
            <a:ext cx="16916400" cy="713232"/>
          </a:xfrm>
          <a:prstGeom prst="rect">
            <a:avLst/>
          </a:prstGeom>
          <a:noFill/>
          <a:ln w="2222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270248"/>
            <a:ext cx="82296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70248"/>
            <a:ext cx="1618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1414"/>
                </a:solidFill>
                <a:latin typeface="Arial"/>
              </a:rPr>
              <a:t>Forwards spread the notice.   FinalSay verifies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39512"/>
            <a:ext cx="8138160" cy="12344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D98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67528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8C0B"/>
                </a:solidFill>
                <a:latin typeface="Arial"/>
              </a:rPr>
              <a:t>SAMPLE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96712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41414"/>
                </a:solidFill>
                <a:latin typeface="Arial"/>
              </a:rPr>
              <a:t>“Mid-term exam moved to 15 Sep — is this notice genuine?”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5239512"/>
            <a:ext cx="8503920" cy="12344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536752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7A4C"/>
                </a:solidFill>
                <a:latin typeface="Arial"/>
              </a:rPr>
              <a:t>WHAT THE SYSTEM RETURNS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569671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650"/>
                </a:solidFill>
                <a:latin typeface="Arial"/>
              </a:rPr>
              <a:t>The matching official notice, a relationship label with a confidence score, and a verifiable evidence trail.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676656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00" b="1" i="0" spc="80">
                <a:solidFill>
                  <a:srgbClr val="FFFFFF"/>
                </a:solidFill>
                <a:latin typeface="Arial"/>
              </a:rPr>
              <a:t>HOW IT FLOWS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7333488"/>
            <a:ext cx="3794760" cy="841248"/>
          </a:xfrm>
          <a:prstGeom prst="ellipse">
            <a:avLst/>
          </a:prstGeom>
          <a:noFill/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7333488"/>
            <a:ext cx="37947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4"/>
                </a:solidFill>
                <a:latin typeface="Arial"/>
              </a:rPr>
              <a:t>Notice in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535424" y="7653528"/>
            <a:ext cx="393192" cy="201168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83480" y="7333488"/>
            <a:ext cx="3794760" cy="841248"/>
          </a:xfrm>
          <a:prstGeom prst="ellipse">
            <a:avLst/>
          </a:prstGeom>
          <a:noFill/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7333488"/>
            <a:ext cx="37947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4"/>
                </a:solidFill>
                <a:latin typeface="Arial"/>
              </a:rPr>
              <a:t>Match + compare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33104" y="7653528"/>
            <a:ext cx="393192" cy="201168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81160" y="7333488"/>
            <a:ext cx="3794760" cy="841248"/>
          </a:xfrm>
          <a:prstGeom prst="ellipse">
            <a:avLst/>
          </a:prstGeom>
          <a:noFill/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7333488"/>
            <a:ext cx="37947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4"/>
                </a:solidFill>
                <a:latin typeface="Arial"/>
              </a:rPr>
              <a:t>Classify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3130784" y="7653528"/>
            <a:ext cx="393192" cy="201168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578840" y="7333488"/>
            <a:ext cx="3794760" cy="841248"/>
          </a:xfrm>
          <a:prstGeom prst="ellipse">
            <a:avLst/>
          </a:prstGeom>
          <a:noFill/>
          <a:ln w="2540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578840" y="7333488"/>
            <a:ext cx="37947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4"/>
                </a:solidFill>
                <a:latin typeface="Arial"/>
              </a:rPr>
              <a:t>Verified 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-2926080" y="2286000"/>
            <a:ext cx="91440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"/>
            <a:ext cx="1453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Feasibility Study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813816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6824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B7280"/>
                </a:solidFill>
                <a:latin typeface="Arial"/>
              </a:rPr>
              <a:t>Answering the six feasibility questions for the proposed FinalSay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88920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971800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16936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What if the system wasn’t implemented?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9272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Students keep relying on forwarded screenshots with no way to confirm authenticity or catch a stale or edited notice.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2788920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5208" y="2971800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8" y="29718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16936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What will be the integration problems?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319272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Ingestion, OCR/LLM extraction, comparison engine and hash-anchoring must interoperate; a typed schema and clear API boundaries handle this.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88536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471416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714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16551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What are the current process problems?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18888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Notices are cross-checked by word of mouth, if at all; corrections and cancellations rarely reach everyone who saw the original.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4288536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65208" y="4471416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44714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416551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Is new technology needed? What skills?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818888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No custom hardware; FastAPI + PostgreSQL, OCR/LLM extraction, SHA-256 hashing. Skills: backend/API, NLP/ML, applied cryptography.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788152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6968" y="5971032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97103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916168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How will the proposed system help?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6318504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One submission drives extraction → matching → classification → reviewer-confirmed verdict, backed by a hash evidence trail.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5788152"/>
            <a:ext cx="8138160" cy="1298448"/>
          </a:xfrm>
          <a:prstGeom prst="rect">
            <a:avLst/>
          </a:prstGeom>
          <a:solidFill>
            <a:srgbClr val="FCF3E4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65208" y="5971032"/>
            <a:ext cx="420624" cy="4206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597103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916168"/>
            <a:ext cx="7178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1414"/>
                </a:solidFill>
                <a:latin typeface="Arial"/>
              </a:rPr>
              <a:t>What facilities must be supported?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318504"/>
            <a:ext cx="7178040" cy="7040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F4650"/>
                </a:solidFill>
                <a:latin typeface="Arial"/>
              </a:rPr>
              <a:t>→ PDF/webpage/email ingestion, PostgreSQL storage, public website + installable PWA, and a lightweight on-chain anchoring service.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7607808"/>
            <a:ext cx="16916400" cy="658368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 w="15875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7607808"/>
            <a:ext cx="1636775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1414"/>
                </a:solidFill>
                <a:latin typeface="Arial"/>
              </a:rPr>
              <a:t>Feasibility verdict → </a:t>
            </a:r>
            <a:r>
              <a:rPr sz="1650" b="1" i="0">
                <a:solidFill>
                  <a:srgbClr val="141414"/>
                </a:solidFill>
                <a:latin typeface="Arial"/>
              </a:rPr>
              <a:t>technically viable with standard components (FastAPI, PostgreSQL, OCR/LLM extraction, lightweight on-chain hash anchoring), scoped to a public verification layer that needs no institutional partnership to launch.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12344400" y="-1828800"/>
            <a:ext cx="8229600" cy="7772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37160"/>
            <a:ext cx="1252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Requirements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7D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18263E"/>
                </a:solidFill>
                <a:latin typeface="Arial"/>
              </a:rPr>
              <a:t>RE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2103120"/>
            <a:ext cx="4343400" cy="731520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16736" y="2532888"/>
            <a:ext cx="27432" cy="5376672"/>
          </a:xfrm>
          <a:prstGeom prst="rect">
            <a:avLst/>
          </a:prstGeom>
          <a:solidFill>
            <a:srgbClr val="B9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395728"/>
            <a:ext cx="256032" cy="25603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2340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414"/>
                </a:solidFill>
                <a:latin typeface="Arial"/>
              </a:rPr>
              <a:t>Inception</a:t>
            </a:r>
          </a:p>
        </p:txBody>
      </p:sp>
      <p:sp>
        <p:nvSpPr>
          <p:cNvPr id="10" name="Oval 9"/>
          <p:cNvSpPr/>
          <p:nvPr/>
        </p:nvSpPr>
        <p:spPr>
          <a:xfrm>
            <a:off x="1225296" y="3291840"/>
            <a:ext cx="256032" cy="256032"/>
          </a:xfrm>
          <a:prstGeom prst="ellipse">
            <a:avLst/>
          </a:prstGeom>
          <a:solidFill>
            <a:srgbClr val="9CA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784" y="32369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414"/>
                </a:solidFill>
                <a:latin typeface="Arial"/>
              </a:rPr>
              <a:t>Elicitation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225296" y="4187952"/>
            <a:ext cx="256032" cy="256032"/>
          </a:xfrm>
          <a:prstGeom prst="ellipse">
            <a:avLst/>
          </a:prstGeom>
          <a:solidFill>
            <a:srgbClr val="9CA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41330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414"/>
                </a:solidFill>
                <a:latin typeface="Arial"/>
              </a:rPr>
              <a:t>Elaboration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225296" y="5084064"/>
            <a:ext cx="256032" cy="256032"/>
          </a:xfrm>
          <a:prstGeom prst="ellipse">
            <a:avLst/>
          </a:prstGeom>
          <a:solidFill>
            <a:srgbClr val="9CA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78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414"/>
                </a:solidFill>
                <a:latin typeface="Arial"/>
              </a:rPr>
              <a:t>Negotiation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225296" y="5980176"/>
            <a:ext cx="256032" cy="256032"/>
          </a:xfrm>
          <a:prstGeom prst="ellipse">
            <a:avLst/>
          </a:prstGeom>
          <a:solidFill>
            <a:srgbClr val="9CA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" y="59253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414"/>
                </a:solidFill>
                <a:latin typeface="Arial"/>
              </a:rPr>
              <a:t>Specification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225296" y="6876288"/>
            <a:ext cx="256032" cy="256032"/>
          </a:xfrm>
          <a:prstGeom prst="ellipse">
            <a:avLst/>
          </a:prstGeom>
          <a:solidFill>
            <a:srgbClr val="9CA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0784" y="68214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414"/>
                </a:solidFill>
                <a:latin typeface="Arial"/>
              </a:rPr>
              <a:t>Validation</a:t>
            </a:r>
          </a:p>
        </p:txBody>
      </p:sp>
      <p:sp>
        <p:nvSpPr>
          <p:cNvPr id="20" name="Oval 19"/>
          <p:cNvSpPr/>
          <p:nvPr/>
        </p:nvSpPr>
        <p:spPr>
          <a:xfrm>
            <a:off x="1225296" y="7772400"/>
            <a:ext cx="256032" cy="25603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0784" y="77175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414"/>
                </a:solidFill>
                <a:latin typeface="Arial"/>
              </a:rPr>
              <a:t>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1536192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C7D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18263E"/>
                </a:solidFill>
                <a:latin typeface="Arial"/>
              </a:rPr>
              <a:t>STAKEHOLDERS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2103120"/>
            <a:ext cx="12252960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21284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B7280"/>
                </a:solidFill>
                <a:latin typeface="Arial"/>
              </a:rPr>
              <a:t>Primary 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487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414"/>
                </a:solidFill>
                <a:latin typeface="Arial"/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21284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B7280"/>
                </a:solidFill>
                <a:latin typeface="Arial"/>
              </a:rPr>
              <a:t>Secondary 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487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414"/>
                </a:solidFill>
                <a:latin typeface="Arial"/>
              </a:rPr>
              <a:t>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0" y="221284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B7280"/>
                </a:solidFill>
                <a:latin typeface="Arial"/>
              </a:rPr>
              <a:t>Secondary 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0" y="2487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414"/>
                </a:solidFill>
                <a:latin typeface="Arial"/>
              </a:rPr>
              <a:t>Admin (Issuer)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32004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FUNCTIONAL REQUIREMENTS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0096" y="3749039"/>
            <a:ext cx="12252960" cy="251460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23560" y="4023360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39502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Notice submission with automatic PII redaction</a:t>
            </a:r>
          </a:p>
        </p:txBody>
      </p:sp>
      <p:sp>
        <p:nvSpPr>
          <p:cNvPr id="34" name="Oval 33"/>
          <p:cNvSpPr/>
          <p:nvPr/>
        </p:nvSpPr>
        <p:spPr>
          <a:xfrm>
            <a:off x="5623560" y="4507992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4434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Typed-field extraction (issuer, audience, date, deadline)</a:t>
            </a:r>
          </a:p>
        </p:txBody>
      </p:sp>
      <p:sp>
        <p:nvSpPr>
          <p:cNvPr id="36" name="Oval 35"/>
          <p:cNvSpPr/>
          <p:nvPr/>
        </p:nvSpPr>
        <p:spPr>
          <a:xfrm>
            <a:off x="5623560" y="4992624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91947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Matching against the official notice record</a:t>
            </a:r>
          </a:p>
        </p:txBody>
      </p:sp>
      <p:sp>
        <p:nvSpPr>
          <p:cNvPr id="38" name="Oval 37"/>
          <p:cNvSpPr/>
          <p:nvPr/>
        </p:nvSpPr>
        <p:spPr>
          <a:xfrm>
            <a:off x="5623560" y="5477256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540410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Confidence-scored relationship classification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11750040" y="4023360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24360" y="39502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Reviewer queue for low-confidence / unresolved cases</a:t>
            </a:r>
          </a:p>
        </p:txBody>
      </p:sp>
      <p:sp>
        <p:nvSpPr>
          <p:cNvPr id="42" name="Oval 41"/>
          <p:cNvSpPr/>
          <p:nvPr/>
        </p:nvSpPr>
        <p:spPr>
          <a:xfrm>
            <a:off x="11750040" y="4507992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24360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Hash-based evidence trail &amp; audit export</a:t>
            </a:r>
          </a:p>
        </p:txBody>
      </p:sp>
      <p:sp>
        <p:nvSpPr>
          <p:cNvPr id="44" name="Oval 43"/>
          <p:cNvSpPr/>
          <p:nvPr/>
        </p:nvSpPr>
        <p:spPr>
          <a:xfrm>
            <a:off x="11750040" y="4992624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024360" y="491947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Verification links + subscriptions/alerts</a:t>
            </a:r>
          </a:p>
        </p:txBody>
      </p:sp>
      <p:sp>
        <p:nvSpPr>
          <p:cNvPr id="46" name="Oval 45"/>
          <p:cNvSpPr/>
          <p:nvPr/>
        </p:nvSpPr>
        <p:spPr>
          <a:xfrm>
            <a:off x="11750040" y="5477256"/>
            <a:ext cx="100584" cy="10058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24360" y="54041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Issuer console for official notices (Tier 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49240" y="653796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D98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NON-FUNCTIONAL REQUIREMENTS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0096" y="7086600"/>
            <a:ext cx="12252960" cy="233172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72694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Trust &amp; Provenance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726948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every verdict traces to a source hash, retrieval date and issuer identity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7612379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Security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7612379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personal data redacted before storage; role-gated issuer / reviewer access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7955279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Reliability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7955279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an unresolved conflict stays unresolved — never auto-decided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8298179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Usability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8298179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one submission flow, a plain-language verdict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86410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Scalability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864108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multi-institution, multi-tenant data 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89839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1414"/>
                </a:solidFill>
                <a:latin typeface="Arial"/>
              </a:rPr>
              <a:t>Privacy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2440" y="898398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03844"/>
                </a:solidFill>
                <a:latin typeface="Arial"/>
              </a:rPr>
              <a:t>retention &amp; redaction policy for scraped documents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>
            <a:off x="-2286000" y="-2286000"/>
            <a:ext cx="9144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UML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68144" y="30175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UML —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325880"/>
            <a:ext cx="12252960" cy="745236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BFD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82" y="1527048"/>
            <a:ext cx="10544907" cy="7050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258800" y="1325880"/>
            <a:ext cx="4352544" cy="358902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0" y="1636776"/>
            <a:ext cx="334670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Arial"/>
              </a:rPr>
              <a:t>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61720" y="2478024"/>
            <a:ext cx="3346703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Primary: Student, Reviewer / Annotator, Administrator. Secondary: OCR, NLI / LLM, Blockchain integrity, Official Notice Source and Institution Issuer.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0" y="5189220"/>
            <a:ext cx="4352544" cy="358902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61720" y="5500116"/>
            <a:ext cx="334670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INCLUDE vs EXTEND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61720" y="6341364"/>
            <a:ext cx="3346703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Verify Notice «includes» extraction, retrieval, comparison, classification, evidence and hashing — all mandatory. «extend» covers the optional evidence and integrity 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1 — Verify Notice is the central use case; every supporting service is a mandatory «include», and login gates all protected 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80000">
            <a:off x="12344400" y="-2286000"/>
            <a:ext cx="86868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UML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88184" y="301752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UML —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325880"/>
            <a:ext cx="12252960" cy="745236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BFD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35" y="1527048"/>
            <a:ext cx="10871401" cy="7050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258800" y="1325880"/>
            <a:ext cx="4352544" cy="358902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61720" y="1636776"/>
            <a:ext cx="334670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ONE USER, THREE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61720" y="2478024"/>
            <a:ext cx="3346703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Student, Reviewer and Administrator all inherit from User, so login and profile logic is written once and each role only adds the operations it actually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0" y="5189220"/>
            <a:ext cx="4352544" cy="358902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61720" y="5500116"/>
            <a:ext cx="334670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Arial"/>
              </a:rPr>
              <a:t>VERDICT CARRIES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61720" y="6341364"/>
            <a:ext cx="3346703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A Verification is never just a label — it holds result, confidence and explanation, and generates Evidence records that point back to the OfficialNotice used for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2 — A Notice is composed of Documents, verified against an OfficialNotice, and every Verification generates Evidence; NLIService is a dependency, not a stored entity.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3258800" y="-3200400"/>
            <a:ext cx="8229600" cy="8686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Activity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UML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88184" y="301752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CONTROL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325880"/>
            <a:ext cx="4069080" cy="745236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D8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7" y="1527048"/>
            <a:ext cx="3266696" cy="7050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57800" y="1325880"/>
            <a:ext cx="12353544" cy="3589020"/>
          </a:xfrm>
          <a:prstGeom prst="roundRect">
            <a:avLst>
              <a:gd name="adj" fmla="val 4000"/>
            </a:avLst>
          </a:prstGeom>
          <a:solidFill>
            <a:srgbClr val="FCF3E4"/>
          </a:solidFill>
          <a:ln w="19050">
            <a:solidFill>
              <a:srgbClr val="D98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636776"/>
            <a:ext cx="1134770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98C0B"/>
                </a:solidFill>
                <a:latin typeface="Arial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78024"/>
            <a:ext cx="1134770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Covers submission through classification and, when confident, an accepted result. Institutional issuer authoring is a planned extension, kept out of scope for this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5189220"/>
            <a:ext cx="12353544" cy="358902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500116"/>
            <a:ext cx="1134770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REVIEW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6341364"/>
            <a:ext cx="1134770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Every low-confidence branch routes to a human reviewer before a result is saved — the system never silently resolves an unclear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3 — Only a confident match is auto-accepted; everything else is reviewer-gated.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-2560320" y="-2560320"/>
            <a:ext cx="86868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Sequence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UML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65224" y="301752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TEMPORAL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325880"/>
            <a:ext cx="7360920" cy="745236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BFD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82" y="1527048"/>
            <a:ext cx="6485067" cy="7050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49640" y="1325880"/>
            <a:ext cx="9061704" cy="3589020"/>
          </a:xfrm>
          <a:prstGeom prst="roundRect">
            <a:avLst>
              <a:gd name="adj" fmla="val 4000"/>
            </a:avLst>
          </a:prstGeom>
          <a:solidFill>
            <a:srgbClr val="FCF3E4"/>
          </a:solidFill>
          <a:ln w="19050">
            <a:solidFill>
              <a:srgbClr val="D98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36776"/>
            <a:ext cx="805586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98C0B"/>
                </a:solidFill>
                <a:latin typeface="Arial"/>
              </a:rPr>
              <a:t>ALT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78024"/>
            <a:ext cx="805586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The alt block is the whole point of the diagram: confident matches save directly, everything else detours through the Reviewer before a result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5189220"/>
            <a:ext cx="9061704" cy="358902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5500116"/>
            <a:ext cx="805586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ONE ROUND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6341364"/>
            <a:ext cx="805586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A single submission drives extraction, comparison and (conditionally) review — the Backend API stays the sole caller the Database and Reviewer ever answer 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4 — Activation bars mark exactly when each component is doing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1887200" y="2743200"/>
            <a:ext cx="9144000" cy="86868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4"/>
                </a:solidFill>
                <a:latin typeface="Arial"/>
              </a:rPr>
              <a:t>Data Flow Diagram — Level 0 &amp; 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Process modelling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LEVEL 0 — SYSTEM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47088"/>
            <a:ext cx="8503920" cy="274320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BFD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d_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69157"/>
            <a:ext cx="8138160" cy="20990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" y="4828032"/>
            <a:ext cx="8503920" cy="3950208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 w="1905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513892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LEVEL 0 → 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5687568"/>
            <a:ext cx="7498079" cy="283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Level 0 collapses the platform to a single process — Student and Admin feed it, Reviewer is the one actor it hands work back to.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Level 1 opens that box into 1.0 Extract &amp; Redact, 2.0 Compare &amp; Classify and 3.0 Review, with D1 Notices and D2 Results as the two stores. Every flow crossing the Level 0 boundary reappears at Level 1 — the diagram balances.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298448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LEVEL 1 — PROCESS DECOMPOSITION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47088"/>
            <a:ext cx="8101583" cy="6931152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BFD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fd_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6036" y="2029968"/>
            <a:ext cx="4489031" cy="6565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5 — Processes 1.0 and 2.0 are single shared blocks; neither is ever duplicated across the diagram.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00000">
            <a:off x="-2743200" y="2743200"/>
            <a:ext cx="86868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9728"/>
            <a:ext cx="1234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1414"/>
                </a:solidFill>
                <a:latin typeface="Arial"/>
              </a:rPr>
              <a:t>Data Flow Diagram — Level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1229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System Design  ·  Decomposition of Process 2.0 — Compare &amp; Classify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67944" y="301752"/>
            <a:ext cx="434340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400" b="1" i="0" spc="80">
                <a:solidFill>
                  <a:srgbClr val="FFFFFF"/>
                </a:solidFill>
                <a:latin typeface="Arial"/>
              </a:rPr>
              <a:t>LEVEL 2 — AGENT INTERNALS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325880"/>
            <a:ext cx="4251960" cy="745236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5875">
            <a:solidFill>
              <a:srgbClr val="D8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d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56" y="1527048"/>
            <a:ext cx="3436359" cy="7050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40680" y="1325880"/>
            <a:ext cx="12170664" cy="358902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36776"/>
            <a:ext cx="1116482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Arial"/>
              </a:rPr>
              <a:t>BALANCING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78024"/>
            <a:ext cx="1116482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2.1 Find Match, 2.2 Compare Fields and 2.3 Score Confidence together decompose Process 2.0, matching its Level-1 parent exactly.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5189220"/>
            <a:ext cx="12170664" cy="3589020"/>
          </a:xfrm>
          <a:prstGeom prst="roundRect">
            <a:avLst>
              <a:gd name="adj" fmla="val 4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5500116"/>
            <a:ext cx="11164824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UNRESOLVED STAYS UNRESOLVED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341364"/>
            <a:ext cx="11164824" cy="2171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F4650"/>
                </a:solidFill>
                <a:latin typeface="Arial"/>
              </a:rPr>
              <a:t>A low-confidence match is never force-labelled — it is always handed to Process 3.0 Review rather than silently accepted.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869680"/>
            <a:ext cx="1673352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Arial"/>
              </a:rPr>
              <a:t>Fig. 6 — Level 2 decomposes only Process 2.0; every child balances against its Level 1 parent.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-2743200" y="5029200"/>
            <a:ext cx="8686800" cy="7315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01752"/>
            <a:ext cx="1975104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700" b="1" i="0" spc="80">
                <a:solidFill>
                  <a:srgbClr val="141414"/>
                </a:solidFill>
                <a:latin typeface="Arial"/>
              </a:rPr>
              <a:t>FinalSay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37160"/>
            <a:ext cx="1234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SDLC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896112"/>
            <a:ext cx="12298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7280"/>
                </a:solidFill>
                <a:latin typeface="Arial"/>
              </a:rPr>
              <a:t>Why iterative and incremental development fits FinalSay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3145536" cy="457200"/>
          </a:xfrm>
          <a:prstGeom prst="roundRect">
            <a:avLst>
              <a:gd name="adj" fmla="val 50000"/>
            </a:avLst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MODELS CONSIDERED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212848"/>
            <a:ext cx="4233672" cy="2093976"/>
          </a:xfrm>
          <a:prstGeom prst="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46888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Waterfall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35808"/>
            <a:ext cx="3429000" cy="950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650"/>
                </a:solidFill>
                <a:latin typeface="Arial"/>
              </a:rPr>
              <a:t>Rigid sequential phases; no room for scope that changed after every instructor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2352" y="2212848"/>
            <a:ext cx="4233672" cy="2093976"/>
          </a:xfrm>
          <a:prstGeom prst="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246888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3035808"/>
            <a:ext cx="3429000" cy="950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650"/>
                </a:solidFill>
                <a:latin typeface="Arial"/>
              </a:rPr>
              <a:t>Strong on UI feedback, weak on the architectural rigour a provenance-anchored system needs.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37192" y="2212848"/>
            <a:ext cx="4233672" cy="2093976"/>
          </a:xfrm>
          <a:prstGeom prst="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1512" y="246888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Arial"/>
              </a:rPr>
              <a:t>Spiral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9528" y="3035808"/>
            <a:ext cx="3429000" cy="950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650"/>
                </a:solidFill>
                <a:latin typeface="Arial"/>
              </a:rPr>
              <a:t>Suited to high-risk, high-cost projects; heavier process than a two-tier scoped evaluation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62888" y="2212848"/>
            <a:ext cx="4233672" cy="2093976"/>
          </a:xfrm>
          <a:prstGeom prst="rect">
            <a:avLst/>
          </a:prstGeom>
          <a:solidFill>
            <a:srgbClr val="EAF3EC"/>
          </a:solidFill>
          <a:ln w="25400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37208" y="2468880"/>
            <a:ext cx="368503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7A4C"/>
                </a:solidFill>
                <a:latin typeface="Arial"/>
              </a:rPr>
              <a:t>Iterative + Incremental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65224" y="3355848"/>
            <a:ext cx="3429000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650"/>
                </a:solidFill>
                <a:latin typeface="Arial"/>
              </a:rPr>
              <a:t>Working increments validated each sprint, refined as scope and instructor feedback evolved.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779239" y="39227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050" b="1" i="0" spc="80">
                <a:solidFill>
                  <a:srgbClr val="FFFFFF"/>
                </a:solidFill>
                <a:latin typeface="Arial"/>
              </a:rPr>
              <a:t>SELECTED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08576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WHY IT FITS FINALSAY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5093208"/>
            <a:ext cx="16934688" cy="2075688"/>
          </a:xfrm>
          <a:prstGeom prst="rect">
            <a:avLst/>
          </a:prstGeom>
          <a:solidFill>
            <a:srgbClr val="FFFDF8"/>
          </a:solidFill>
          <a:ln w="15875">
            <a:solidFill>
              <a:srgbClr val="D8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5" y="5477256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6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Scope kept changing through three instructor review rounds</a:t>
            </a:r>
          </a:p>
        </p:txBody>
      </p:sp>
      <p:sp>
        <p:nvSpPr>
          <p:cNvPr id="24" name="Oval 23"/>
          <p:cNvSpPr/>
          <p:nvPr/>
        </p:nvSpPr>
        <p:spPr>
          <a:xfrm>
            <a:off x="1042415" y="5998464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916168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Each sprint yields a testable extraction / comparison increment</a:t>
            </a:r>
          </a:p>
        </p:txBody>
      </p:sp>
      <p:sp>
        <p:nvSpPr>
          <p:cNvPr id="26" name="Oval 25"/>
          <p:cNvSpPr/>
          <p:nvPr/>
        </p:nvSpPr>
        <p:spPr>
          <a:xfrm>
            <a:off x="1042415" y="6519672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37376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Classification thresholds genuinely need tuning against the benchmark</a:t>
            </a:r>
          </a:p>
        </p:txBody>
      </p:sp>
      <p:sp>
        <p:nvSpPr>
          <p:cNvPr id="28" name="Oval 27"/>
          <p:cNvSpPr/>
          <p:nvPr/>
        </p:nvSpPr>
        <p:spPr>
          <a:xfrm>
            <a:off x="9363456" y="5477256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539496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Cross-institution ingestion can be added one institution at a time</a:t>
            </a:r>
          </a:p>
        </p:txBody>
      </p:sp>
      <p:sp>
        <p:nvSpPr>
          <p:cNvPr id="30" name="Oval 29"/>
          <p:cNvSpPr/>
          <p:nvPr/>
        </p:nvSpPr>
        <p:spPr>
          <a:xfrm>
            <a:off x="9363456" y="5998464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5916168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Evaluation metrics (F1, agreement) are measured every sprint</a:t>
            </a:r>
          </a:p>
        </p:txBody>
      </p:sp>
      <p:sp>
        <p:nvSpPr>
          <p:cNvPr id="32" name="Oval 31"/>
          <p:cNvSpPr/>
          <p:nvPr/>
        </p:nvSpPr>
        <p:spPr>
          <a:xfrm>
            <a:off x="9363456" y="6519672"/>
            <a:ext cx="128016" cy="128016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6437376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3844"/>
                </a:solidFill>
                <a:latin typeface="Arial"/>
              </a:rPr>
              <a:t>Reviewer workflow and unresolved-case handling validated continuously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7324344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/>
            <a:r>
              <a:rPr sz="1350" b="1" i="0" spc="80">
                <a:solidFill>
                  <a:srgbClr val="FFFFFF"/>
                </a:solidFill>
                <a:latin typeface="Arial"/>
              </a:rPr>
              <a:t>SPRINT PROGRESSION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" y="7808975"/>
            <a:ext cx="16934688" cy="1225296"/>
          </a:xfrm>
          <a:prstGeom prst="rect">
            <a:avLst/>
          </a:prstGeom>
          <a:solidFill>
            <a:srgbClr val="FFFDF8"/>
          </a:solidFill>
          <a:ln w="15875">
            <a:solidFill>
              <a:srgbClr val="D8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" y="8037575"/>
            <a:ext cx="2660904" cy="502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Architecture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67328" y="8037575"/>
            <a:ext cx="2660904" cy="502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7328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Ingestion / Extraction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47104" y="8037575"/>
            <a:ext cx="2660904" cy="502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Comparison Engine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8037575"/>
            <a:ext cx="2660904" cy="502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Reviewer &amp; Evidence Trail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106656" y="8037575"/>
            <a:ext cx="2660904" cy="502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06656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06656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Public Site &amp; PWA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886432" y="8037575"/>
            <a:ext cx="2660904" cy="5029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886432" y="8183879"/>
            <a:ext cx="26609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414"/>
                </a:solidFill>
                <a:latin typeface="Arial"/>
              </a:rPr>
              <a:t>Sprint 5+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886432" y="8467344"/>
            <a:ext cx="266090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Arial"/>
              </a:rPr>
              <a:t>Cross-Inst. Evaluation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9189720"/>
            <a:ext cx="16733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141414"/>
                </a:solidFill>
                <a:latin typeface="Arial"/>
              </a:rPr>
              <a:t>“Build a working increment, validate it, learn from feedback, refine the next.”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9793224"/>
            <a:ext cx="18288000" cy="493776"/>
          </a:xfrm>
          <a:prstGeom prst="rect">
            <a:avLst/>
          </a:prstGeom>
          <a:solidFill>
            <a:srgbClr val="18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007840" y="9793224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b_bl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20000">
            <a:off x="-2286000" y="-2743200"/>
            <a:ext cx="10058400" cy="9144000"/>
          </a:xfrm>
          <a:prstGeom prst="rect">
            <a:avLst/>
          </a:prstGeom>
        </p:spPr>
      </p:pic>
      <p:pic>
        <p:nvPicPr>
          <p:cNvPr id="3" name="Picture 2" descr="blo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40000">
            <a:off x="12344400" y="4572000"/>
            <a:ext cx="91440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420624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141414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5532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Questions on scope, architecture, or the evidence model — happy to dig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