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6"/>
  </p:notesMasterIdLst>
  <p:sldIdLst>
    <p:sldId id="256" r:id="rId3"/>
    <p:sldId id="258" r:id="rId4"/>
    <p:sldId id="298" r:id="rId5"/>
    <p:sldId id="299" r:id="rId6"/>
    <p:sldId id="300" r:id="rId7"/>
    <p:sldId id="301" r:id="rId8"/>
    <p:sldId id="302" r:id="rId9"/>
    <p:sldId id="312" r:id="rId58"/>
    <p:sldId id="311" r:id="rId57"/>
    <p:sldId id="304" r:id="rId11"/>
    <p:sldId id="306" r:id="rId13"/>
    <p:sldId id="307" r:id="rId14"/>
    <p:sldId id="308" r:id="rId15"/>
  </p:sldIdLst>
  <p:sldSz cx="9144000" cy="5143500" type="screen16x9"/>
  <p:notesSz cx="6858000" cy="9144000"/>
  <p:embeddedFontLst>
    <p:embeddedFont>
      <p:font typeface="Catamaran Light" panose="020B0604020202020204" charset="0"/>
      <p:regular r:id="rId27"/>
      <p:bold r:id="rId28"/>
    </p:embeddedFont>
    <p:embeddedFont>
      <p:font typeface="Fira Sans Extra Condensed Medium" panose="020B0604020202020204" charset="0"/>
      <p:regular r:id="rId29"/>
      <p:bold r:id="rId30"/>
      <p:italic r:id="rId31"/>
      <p:boldItalic r:id="rId32"/>
    </p:embeddedFont>
    <p:embeddedFont>
      <p:font typeface="Livvic" pitchFamily="2" charset="0"/>
      <p:regular r:id="rId33"/>
      <p:bold r:id="rId34"/>
      <p:italic r:id="rId35"/>
      <p:boldItalic r:id="rId36"/>
    </p:embeddedFont>
    <p:embeddedFont>
      <p:font typeface="Montserrat" pitchFamily="2" charset="0"/>
      <p:regular r:id="rId37"/>
      <p:bold r:id="rId38"/>
      <p:italic r:id="rId39"/>
      <p:boldItalic r:id="rId40"/>
    </p:embeddedFont>
    <p:embeddedFont>
      <p:font typeface="Montserrat Light" pitchFamily="2" charset="0"/>
      <p:regular r:id="rId41"/>
      <p:italic r:id="rId42"/>
    </p:embeddedFont>
    <p:embeddedFont>
      <p:font typeface="Montserrat SemiBold" pitchFamily="2" charset="0"/>
      <p:bold r:id="rId43"/>
      <p:boldItalic r:id="rId44"/>
    </p:embeddedFont>
    <p:embeddedFont>
      <p:font typeface="Proxima Nova" panose="020B0604020202020204" charset="0"/>
      <p:regular r:id="rId45"/>
      <p:bold r:id="rId46"/>
      <p:italic r:id="rId47"/>
      <p:boldItalic r:id="rId48"/>
    </p:embeddedFont>
    <p:embeddedFont>
      <p:font typeface="Proxima Nova Semibold" panose="020B0604020202020204" charset="0"/>
      <p:regular r:id="rId49"/>
      <p:bold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F43CE9-786E-499A-A3BB-C5442C21AA37}">
  <a:tblStyle styleId="{4AF43CE9-786E-499A-A3BB-C5442C21A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1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font" Target="fonts/font19.fntdata"/><Relationship Id="rId46" Type="http://schemas.openxmlformats.org/officeDocument/2006/relationships/font" Target="fonts/font20.fntdata"/><Relationship Id="rId47" Type="http://schemas.openxmlformats.org/officeDocument/2006/relationships/font" Target="fonts/font21.fntdata"/><Relationship Id="rId48" Type="http://schemas.openxmlformats.org/officeDocument/2006/relationships/font" Target="fonts/font22.fntdata"/><Relationship Id="rId49" Type="http://schemas.openxmlformats.org/officeDocument/2006/relationships/font" Target="fonts/font23.fntdata"/><Relationship Id="rId50" Type="http://schemas.openxmlformats.org/officeDocument/2006/relationships/font" Target="fonts/font24.fntdata"/><Relationship Id="rId51" Type="http://schemas.openxmlformats.org/officeDocument/2006/relationships/font" Target="fonts/font25.fntdata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7" Type="http://schemas.openxmlformats.org/officeDocument/2006/relationships/slide" Target="slides/slide10.xml"/><Relationship Id="rId5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13d9a7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13d9a7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2110" r="12110"/>
          <a:stretch/>
        </p:blipFill>
        <p:spPr>
          <a:xfrm flipH="1">
            <a:off x="2687192" y="0"/>
            <a:ext cx="692940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/>
          <p:nvPr/>
        </p:nvSpPr>
        <p:spPr>
          <a:xfrm rot="5400000">
            <a:off x="2558543" y="-1476792"/>
            <a:ext cx="2358166" cy="7495953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0" y="1165671"/>
            <a:ext cx="7485603" cy="2157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chemeClr val="lt1"/>
                </a:solidFill>
                <a:latin typeface="Montserrat SemiBold" pitchFamily="2" charset="0"/>
              </a:rPr>
              <a:t>UCS503</a:t>
            </a:r>
            <a:endParaRPr sz="4400" dirty="0">
              <a:solidFill>
                <a:schemeClr val="lt1"/>
              </a:solidFill>
              <a:latin typeface="Montserrat SemiBold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chemeClr val="lt1"/>
                </a:solidFill>
                <a:latin typeface="Montserrat SemiBold" pitchFamily="2" charset="0"/>
                <a:sym typeface="Livvic"/>
              </a:rPr>
              <a:t>Netra</a:t>
            </a:r>
            <a:br>
              <a:rPr lang="en-IN" sz="4400" dirty="0">
                <a:solidFill>
                  <a:schemeClr val="lt1"/>
                </a:solidFill>
                <a:latin typeface="Montserrat SemiBold" pitchFamily="2" charset="0"/>
                <a:sym typeface="Livvic"/>
              </a:rPr>
            </a:br>
            <a:r>
              <a:rPr lang="en-IN" sz="4400" dirty="0">
                <a:solidFill>
                  <a:schemeClr val="lt1"/>
                </a:solidFill>
                <a:latin typeface="Montserrat Light" pitchFamily="2" charset="0"/>
                <a:sym typeface="Livvic"/>
              </a:rPr>
              <a:t>Team Netra</a:t>
            </a:r>
            <a:endParaRPr lang="en-IN" sz="4400" dirty="0">
              <a:solidFill>
                <a:schemeClr val="lt1"/>
              </a:solidFill>
              <a:latin typeface="Montserrat SemiBold" pitchFamily="2" charset="0"/>
              <a:sym typeface="Livvic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137371" y="3620000"/>
            <a:ext cx="2420000" cy="11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 sz="90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Ragini Kalra  1024030139</a:t>
            </a:r>
            <a:endParaRPr b="1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 sz="90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Jatin Goyal  1024030137</a:t>
            </a:r>
            <a:endParaRPr b="1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 sz="90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Vaishnavi Singh  1024030130</a:t>
            </a:r>
            <a:endParaRPr b="1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 sz="90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Madhav  1024030134</a:t>
            </a:r>
            <a:endParaRPr b="1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ctrTitle" idx="9"/>
          </p:nvPr>
        </p:nvSpPr>
        <p:spPr>
          <a:xfrm rot="5400000">
            <a:off x="6665475" y="1996389"/>
            <a:ext cx="3042343" cy="7125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/>
              <a:t>TABLE OF CONTENTS</a:t>
            </a:r>
            <a:endParaRPr sz="2400" dirty="0"/>
          </a:p>
        </p:txBody>
      </p:sp>
      <p:sp>
        <p:nvSpPr>
          <p:cNvPr id="146" name="Google Shape;146;p28"/>
          <p:cNvSpPr/>
          <p:nvPr/>
        </p:nvSpPr>
        <p:spPr>
          <a:xfrm rot="-5400000" flipH="1">
            <a:off x="-2152535" y="2119713"/>
            <a:ext cx="5140800" cy="9013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title" idx="8"/>
          </p:nvPr>
        </p:nvSpPr>
        <p:spPr>
          <a:xfrm>
            <a:off x="221864" y="2326163"/>
            <a:ext cx="611785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</a:rPr>
              <a:t>03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150" name="Google Shape;150;p28"/>
          <p:cNvSpPr txBox="1">
            <a:spLocks noGrp="1"/>
          </p:cNvSpPr>
          <p:nvPr>
            <p:ph type="ctrTitle"/>
          </p:nvPr>
        </p:nvSpPr>
        <p:spPr>
          <a:xfrm>
            <a:off x="901375" y="5425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z="1200"/>
              <a:t>Introduction</a:t>
            </a:r>
            <a:endParaRPr dirty="0"/>
          </a:p>
        </p:txBody>
      </p:sp>
      <p:sp>
        <p:nvSpPr>
          <p:cNvPr id="152" name="Google Shape;152;p28"/>
          <p:cNvSpPr txBox="1">
            <a:spLocks noGrp="1"/>
          </p:cNvSpPr>
          <p:nvPr>
            <p:ph type="title" idx="2"/>
          </p:nvPr>
        </p:nvSpPr>
        <p:spPr>
          <a:xfrm>
            <a:off x="208097" y="749018"/>
            <a:ext cx="611785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</a:rPr>
              <a:t>01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 idx="5"/>
          </p:nvPr>
        </p:nvSpPr>
        <p:spPr>
          <a:xfrm>
            <a:off x="221863" y="1496306"/>
            <a:ext cx="611785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</a:rPr>
              <a:t>02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158" name="Google Shape;158;p28"/>
          <p:cNvSpPr txBox="1">
            <a:spLocks noGrp="1"/>
          </p:cNvSpPr>
          <p:nvPr>
            <p:ph type="title" idx="15"/>
          </p:nvPr>
        </p:nvSpPr>
        <p:spPr>
          <a:xfrm>
            <a:off x="221863" y="3160838"/>
            <a:ext cx="611785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</a:rPr>
              <a:t>04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title" idx="18"/>
          </p:nvPr>
        </p:nvSpPr>
        <p:spPr>
          <a:xfrm>
            <a:off x="221863" y="3995513"/>
            <a:ext cx="611785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>
                <a:solidFill>
                  <a:schemeClr val="lt1"/>
                </a:solidFill>
              </a:rPr>
              <a:t>05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F8573-3C71-083B-B434-B27A1BA7725A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905470" y="2630297"/>
            <a:ext cx="1906500" cy="572400"/>
          </a:xfrm>
        </p:spPr>
        <p:txBody>
          <a:bodyPr/>
          <a:lstStyle/>
          <a:p>
            <a:r>
              <a:rPr sz="900"/>
              <a:t>Capture, detect, gate, report</a:t>
            </a:r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68F120-CD14-C3B6-085B-AAC7E69A074B}"/>
              </a:ext>
            </a:extLst>
          </p:cNvPr>
          <p:cNvSpPr>
            <a:spLocks noGrp="1"/>
          </p:cNvSpPr>
          <p:nvPr>
            <p:ph type="ctrTitle" idx="6"/>
          </p:nvPr>
        </p:nvSpPr>
        <p:spPr>
          <a:xfrm>
            <a:off x="905472" y="2216198"/>
            <a:ext cx="2251800" cy="577800"/>
          </a:xfrm>
        </p:spPr>
        <p:txBody>
          <a:bodyPr/>
          <a:lstStyle/>
          <a:p>
            <a:r>
              <a:rPr sz="1200"/>
              <a:t>Proposed functions</a:t>
            </a:r>
            <a:endParaRPr lang="en-IN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DFBCB3-71EC-EE44-C908-3A6CEF9F8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373" y="957621"/>
            <a:ext cx="1906500" cy="572400"/>
          </a:xfrm>
        </p:spPr>
        <p:txBody>
          <a:bodyPr/>
          <a:lstStyle/>
          <a:p>
            <a:r>
              <a:rPr sz="900"/>
              <a:t>The gap no scanner sees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0D0DD14-223F-443B-AB99-0D65A9294333}"/>
              </a:ext>
            </a:extLst>
          </p:cNvPr>
          <p:cNvSpPr>
            <a:spLocks noGrp="1"/>
          </p:cNvSpPr>
          <p:nvPr>
            <p:ph type="ctrTitle" idx="3"/>
          </p:nvPr>
        </p:nvSpPr>
        <p:spPr>
          <a:xfrm>
            <a:off x="902737" y="1379386"/>
            <a:ext cx="2251800" cy="577800"/>
          </a:xfrm>
        </p:spPr>
        <p:txBody>
          <a:bodyPr/>
          <a:lstStyle/>
          <a:p>
            <a:r>
              <a:rPr sz="1200"/>
              <a:t>Project scope</a:t>
            </a:r>
            <a:endParaRPr lang="en-IN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494F348D-3C6E-4575-AB6B-5DEB8A2B660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02732" y="1793959"/>
            <a:ext cx="1976700" cy="572400"/>
          </a:xfrm>
        </p:spPr>
        <p:txBody>
          <a:bodyPr/>
          <a:lstStyle/>
          <a:p>
            <a:r>
              <a:rPr sz="900"/>
              <a:t>Three classes, frozen</a:t>
            </a:r>
            <a:endParaRPr lang="en-IN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0D8014F-FA3E-AEA2-FC69-E485B22ABC37}"/>
              </a:ext>
            </a:extLst>
          </p:cNvPr>
          <p:cNvSpPr>
            <a:spLocks noGrp="1"/>
          </p:cNvSpPr>
          <p:nvPr>
            <p:ph type="ctrTitle" idx="13"/>
          </p:nvPr>
        </p:nvSpPr>
        <p:spPr>
          <a:xfrm>
            <a:off x="905472" y="3053011"/>
            <a:ext cx="2251800" cy="577800"/>
          </a:xfrm>
        </p:spPr>
        <p:txBody>
          <a:bodyPr/>
          <a:lstStyle/>
          <a:p>
            <a:r>
              <a:rPr sz="1200"/>
              <a:t>Target users</a:t>
            </a:r>
            <a:endParaRPr lang="en-IN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210C0FE4-9106-0674-D50D-ADFE2FE90D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905470" y="3466634"/>
            <a:ext cx="1906500" cy="572400"/>
          </a:xfrm>
        </p:spPr>
        <p:txBody>
          <a:bodyPr/>
          <a:lstStyle/>
          <a:p>
            <a:r>
              <a:rPr sz="900"/>
              <a:t>Who carries the problem</a:t>
            </a:r>
            <a:endParaRPr lang="en-IN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BB31AC11-54F1-05BC-9B07-CEC6E8A51267}"/>
              </a:ext>
            </a:extLst>
          </p:cNvPr>
          <p:cNvSpPr>
            <a:spLocks noGrp="1"/>
          </p:cNvSpPr>
          <p:nvPr>
            <p:ph type="ctrTitle" idx="16"/>
          </p:nvPr>
        </p:nvSpPr>
        <p:spPr>
          <a:xfrm>
            <a:off x="905472" y="3889823"/>
            <a:ext cx="2251800" cy="577800"/>
          </a:xfrm>
        </p:spPr>
        <p:txBody>
          <a:bodyPr/>
          <a:lstStyle/>
          <a:p>
            <a:r>
              <a:rPr sz="1200"/>
              <a:t>Features and interfaces</a:t>
            </a:r>
            <a:endParaRPr lang="en-IN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C7D6D388-266C-175F-EDF2-77E95FFD46E9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905470" y="4302972"/>
            <a:ext cx="1906500" cy="572400"/>
          </a:xfrm>
        </p:spPr>
        <p:txBody>
          <a:bodyPr/>
          <a:lstStyle/>
          <a:p>
            <a:r>
              <a:rPr sz="900"/>
              <a:t>System and external</a:t>
            </a:r>
            <a:endParaRPr lang="en-IN" dirty="0"/>
          </a:p>
        </p:txBody>
      </p:sp>
      <p:sp>
        <p:nvSpPr>
          <p:cNvPr id="4" name="Google Shape;146;p28">
            <a:extLst>
              <a:ext uri="{FF2B5EF4-FFF2-40B4-BE49-F238E27FC236}">
                <a16:creationId xmlns:a16="http://schemas.microsoft.com/office/drawing/2014/main" id="{FCF0ED7C-C18D-5B9E-0F4E-565149E8B9FF}"/>
              </a:ext>
            </a:extLst>
          </p:cNvPr>
          <p:cNvSpPr/>
          <p:nvPr/>
        </p:nvSpPr>
        <p:spPr>
          <a:xfrm rot="-5400000" flipH="1">
            <a:off x="1724381" y="2120057"/>
            <a:ext cx="5145515" cy="9013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49;p28">
            <a:extLst>
              <a:ext uri="{FF2B5EF4-FFF2-40B4-BE49-F238E27FC236}">
                <a16:creationId xmlns:a16="http://schemas.microsoft.com/office/drawing/2014/main" id="{0C9F5F90-CF30-7E25-27EA-E0749D7E4809}"/>
              </a:ext>
            </a:extLst>
          </p:cNvPr>
          <p:cNvSpPr txBox="1">
            <a:spLocks/>
          </p:cNvSpPr>
          <p:nvPr/>
        </p:nvSpPr>
        <p:spPr>
          <a:xfrm>
            <a:off x="4068314" y="2399268"/>
            <a:ext cx="61178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" sz="2800" dirty="0">
                <a:solidFill>
                  <a:schemeClr val="lt1"/>
                </a:solidFill>
              </a:rPr>
              <a:t>08</a:t>
            </a:r>
          </a:p>
        </p:txBody>
      </p:sp>
      <p:sp>
        <p:nvSpPr>
          <p:cNvPr id="8" name="Google Shape;152;p28">
            <a:extLst>
              <a:ext uri="{FF2B5EF4-FFF2-40B4-BE49-F238E27FC236}">
                <a16:creationId xmlns:a16="http://schemas.microsoft.com/office/drawing/2014/main" id="{FBE148AF-1DD4-809D-C8FF-809F475314B0}"/>
              </a:ext>
            </a:extLst>
          </p:cNvPr>
          <p:cNvSpPr txBox="1">
            <a:spLocks/>
          </p:cNvSpPr>
          <p:nvPr/>
        </p:nvSpPr>
        <p:spPr>
          <a:xfrm>
            <a:off x="4068314" y="749018"/>
            <a:ext cx="61178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" sz="2800" dirty="0">
                <a:solidFill>
                  <a:schemeClr val="lt1"/>
                </a:solidFill>
              </a:rPr>
              <a:t>06</a:t>
            </a:r>
          </a:p>
        </p:txBody>
      </p:sp>
      <p:sp>
        <p:nvSpPr>
          <p:cNvPr id="10" name="Google Shape;155;p28">
            <a:extLst>
              <a:ext uri="{FF2B5EF4-FFF2-40B4-BE49-F238E27FC236}">
                <a16:creationId xmlns:a16="http://schemas.microsoft.com/office/drawing/2014/main" id="{8C1FBF2B-EA84-76F2-1812-98B69A2A9F54}"/>
              </a:ext>
            </a:extLst>
          </p:cNvPr>
          <p:cNvSpPr txBox="1">
            <a:spLocks/>
          </p:cNvSpPr>
          <p:nvPr/>
        </p:nvSpPr>
        <p:spPr>
          <a:xfrm>
            <a:off x="4068314" y="1583693"/>
            <a:ext cx="61178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" sz="2800" dirty="0">
                <a:solidFill>
                  <a:schemeClr val="lt1"/>
                </a:solidFill>
              </a:rPr>
              <a:t>07</a:t>
            </a:r>
          </a:p>
        </p:txBody>
      </p:sp>
      <p:sp>
        <p:nvSpPr>
          <p:cNvPr id="12" name="Google Shape;158;p28">
            <a:extLst>
              <a:ext uri="{FF2B5EF4-FFF2-40B4-BE49-F238E27FC236}">
                <a16:creationId xmlns:a16="http://schemas.microsoft.com/office/drawing/2014/main" id="{FA2432F3-2724-6A90-E577-A3CA087C2B51}"/>
              </a:ext>
            </a:extLst>
          </p:cNvPr>
          <p:cNvSpPr txBox="1">
            <a:spLocks/>
          </p:cNvSpPr>
          <p:nvPr/>
        </p:nvSpPr>
        <p:spPr>
          <a:xfrm>
            <a:off x="4068314" y="3160838"/>
            <a:ext cx="61178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" sz="2800" dirty="0">
                <a:solidFill>
                  <a:schemeClr val="lt1"/>
                </a:solidFill>
              </a:rPr>
              <a:t>09</a:t>
            </a:r>
          </a:p>
        </p:txBody>
      </p:sp>
      <p:sp>
        <p:nvSpPr>
          <p:cNvPr id="14" name="Google Shape;161;p28">
            <a:extLst>
              <a:ext uri="{FF2B5EF4-FFF2-40B4-BE49-F238E27FC236}">
                <a16:creationId xmlns:a16="http://schemas.microsoft.com/office/drawing/2014/main" id="{3DA03582-EF5E-80E8-5510-FA9178ADA58F}"/>
              </a:ext>
            </a:extLst>
          </p:cNvPr>
          <p:cNvSpPr txBox="1">
            <a:spLocks/>
          </p:cNvSpPr>
          <p:nvPr/>
        </p:nvSpPr>
        <p:spPr>
          <a:xfrm>
            <a:off x="4068314" y="3995513"/>
            <a:ext cx="61178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ivvic"/>
              <a:buNone/>
              <a:defRPr sz="4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s" sz="2800" dirty="0">
                <a:solidFill>
                  <a:schemeClr val="lt1"/>
                </a:solidFill>
              </a:rPr>
              <a:t>10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50000" y="542573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ontserrat"/>
              </a:rPr>
              <a:t>Architecture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0000" y="957621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Montserrat"/>
              </a:rPr>
              <a:t>Server, workers, storage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750000" y="1377248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ontserrat"/>
              </a:rPr>
              <a:t>Data and sampling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50000" y="1792296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Montserrat"/>
              </a:rPr>
              <a:t>Ground truth and frame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50000" y="2192823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ontserrat"/>
              </a:rPr>
              <a:t>Performance and security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750000" y="2607871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Montserrat"/>
              </a:rPr>
              <a:t>Budgets and controls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750000" y="2954393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ontserrat"/>
              </a:rPr>
              <a:t>Quality and risks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750000" y="3369441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Montserrat"/>
              </a:rPr>
              <a:t>Attributes and register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750000" y="3789068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ontserrat"/>
              </a:rPr>
              <a:t>Planning and close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50000" y="4204116"/>
            <a:ext cx="26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Montserrat"/>
              </a:rPr>
              <a:t>Gantt, milestones,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Introduction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3400000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Overview:</a:t>
            </a:r>
            <a:r>
              <a:rPr lang="en-US" sz="1600" dirty="0">
                <a:latin typeface="Montserrat" pitchFamily="2" charset="0"/>
              </a:rPr>
              <a:t> Three accessibility defects on Indian institutional websites that no shipping scanner detects.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The gap:</a:t>
            </a:r>
            <a:r>
              <a:rPr lang="en-US" sz="1600" dirty="0">
                <a:latin typeface="Montserrat" pitchFamily="2" charset="0"/>
              </a:rPr>
              <a:t> Language rules check that the attribute exists. None check it against the text on the page.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Why now:</a:t>
            </a:r>
            <a:r>
              <a:rPr lang="en-US" sz="1600" dirty="0">
                <a:latin typeface="Montserrat" pitchFamily="2" charset="0"/>
              </a:rPr>
              <a:t> GIGW 3.0 and IS 17802 make these compliance failures, not preferences.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Aim:</a:t>
            </a:r>
            <a:r>
              <a:rPr lang="en-US" sz="1600" dirty="0">
                <a:latin typeface="Montserrat" pitchFamily="2" charset="0"/>
              </a:rPr>
              <a:t> Build the labelled Indic-script dataset that makes them measurable.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57" y="1814677"/>
            <a:ext cx="4025751" cy="23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Project Scope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Class 1:</a:t>
            </a:r>
            <a:r>
              <a:rPr lang="en-US" sz="1800" dirty="0">
                <a:latin typeface="Montserrat" pitchFamily="2" charset="0"/>
              </a:rPr>
              <a:t> Declared language against the dominant script on the page.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Class 2:</a:t>
            </a:r>
            <a:r>
              <a:rPr lang="en-US" sz="1800" dirty="0">
                <a:latin typeface="Montserrat" pitchFamily="2" charset="0"/>
              </a:rPr>
              <a:t> Indic text in an image or PDF with no adequate alternative.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Class 3:</a:t>
            </a:r>
            <a:r>
              <a:rPr lang="en-US" sz="1800" dirty="0">
                <a:latin typeface="Montserrat" pitchFamily="2" charset="0"/>
              </a:rPr>
              <a:t> Unmarked language change inside a page.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Deliverables:</a:t>
            </a:r>
            <a:r>
              <a:rPr lang="en-US" sz="1800" dirty="0">
                <a:latin typeface="Montserrat" pitchFamily="2" charset="0"/>
              </a:rPr>
              <a:t> Labelled dataset, codebook, hosted audit service, per-class precision and recall against axe-core and Pa11y.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Not in scope:</a:t>
            </a:r>
            <a:r>
              <a:rPr lang="en-US" sz="1800" dirty="0">
                <a:latin typeface="Montserrat" pitchFamily="2" charset="0"/>
              </a:rPr>
              <a:t> Glyph rendering is a stretch item. English, Hindi, Punjabi only. Public pages only.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56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Proposed Functions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1750000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Capture:</a:t>
            </a:r>
            <a:r>
              <a:rPr lang="en-US" sz="1600" dirty="0">
                <a:latin typeface="Montserrat" pitchFamily="2" charset="0"/>
              </a:rPr>
              <a:t> Render the page. Archive DOM, screenshot and every linked PDF with a SHA-256 hash, so a finding survives the next site update.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Detect:</a:t>
            </a:r>
            <a:r>
              <a:rPr lang="en-US" sz="1600" dirty="0">
                <a:latin typeface="Montserrat" pitchFamily="2" charset="0"/>
              </a:rPr>
              <a:t> Dominant script against declared lang. Run segmentation for language of parts. Indic OCR on images. Unicode test on PDF text layers.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Gate:</a:t>
            </a:r>
            <a:r>
              <a:rPr lang="en-US" sz="1600" dirty="0">
                <a:latin typeface="Montserrat" pitchFamily="2" charset="0"/>
              </a:rPr>
              <a:t> Uncertain findings go to a human, never into a report. The queue rate is published as a result in its own right.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93" y="3058409"/>
            <a:ext cx="6227879" cy="193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3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Target Users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Affected:</a:t>
            </a:r>
            <a:r>
              <a:rPr lang="en-US" sz="1800" dirty="0">
                <a:latin typeface="Montserrat" pitchFamily="2" charset="0"/>
              </a:rPr>
              <a:t> Blind and low-vision students and staff. They carry the defect and never touch the tool.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Operators:</a:t>
            </a:r>
            <a:r>
              <a:rPr lang="en-US" sz="1800" dirty="0">
                <a:latin typeface="Montserrat" pitchFamily="2" charset="0"/>
              </a:rPr>
              <a:t> Institutional web teams. They hold the obligation and are not accessibility specialists, so findings name a page and a fix, not a rule number.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Annotators:</a:t>
            </a:r>
            <a:r>
              <a:rPr lang="en-US" sz="1800" dirty="0">
                <a:latin typeface="Montserrat" pitchFamily="2" charset="0"/>
              </a:rPr>
              <a:t> Our own team. Time is the constraint, so minutes per page is measured, not assumed.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Contacts:</a:t>
            </a:r>
            <a:r>
              <a:rPr lang="en-US" sz="1800" dirty="0">
                <a:latin typeface="Montserrat" pitchFamily="2" charset="0"/>
              </a:rPr>
              <a:t> Patiala School for the Blind, about sixty students, in our own city. Equal Opportunity Cell, Panjab University.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73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System Features and Interfaces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Core:</a:t>
            </a:r>
            <a:r>
              <a:rPr lang="en-US" sz="1800" dirty="0">
                <a:latin typeface="Montserrat" pitchFamily="2" charset="0"/>
              </a:rPr>
              <a:t> Page inventory, capture and archive, three detection modules, axe-core and Pa11y baseline harness.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Human loop:</a:t>
            </a:r>
            <a:r>
              <a:rPr lang="en-US" sz="1800" dirty="0">
                <a:latin typeface="Montserrat" pitchFamily="2" charset="0"/>
              </a:rPr>
              <a:t> Review queue, blind double annotation, adjudication record published with the dataset.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Output:</a:t>
            </a:r>
            <a:r>
              <a:rPr lang="en-US" sz="1800" dirty="0">
                <a:latin typeface="Montserrat" pitchFamily="2" charset="0"/>
              </a:rPr>
              <a:t> Prevalence, per-class precision and recall, per-institution export ordered by reach.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User interface:</a:t>
            </a:r>
            <a:r>
              <a:rPr lang="en-US" sz="1800" dirty="0">
                <a:latin typeface="Montserrat" pitchFamily="2" charset="0"/>
              </a:rPr>
              <a:t> Public site, finding view with the archived screenshot beside the markup, annotation view, admin upload and publish.</a:t>
            </a:r>
          </a:p>
          <a:p>
            <a:pPr>
              <a:spcAft>
                <a:spcPts val="1116"/>
              </a:spcAft>
            </a:pPr>
            <a:r>
              <a:rPr lang="en-US" sz="1800" b="1" dirty="0">
                <a:latin typeface="Montserrat" pitchFamily="2" charset="0"/>
              </a:rPr>
              <a:t>External:</a:t>
            </a:r>
            <a:r>
              <a:rPr lang="en-US" sz="1800" dirty="0">
                <a:latin typeface="Montserrat" pitchFamily="2" charset="0"/>
              </a:rPr>
              <a:t> Tesseract Indic, PDF text extraction, NVDA with Hindi and Punjabi voices, AWS S3. HTTPS at nginx, crawler capped at one request per second per host.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83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Architecture and Deployment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3400000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Our own server:</a:t>
            </a:r>
            <a:r>
              <a:rPr lang="en-US" sz="1600" dirty="0">
                <a:latin typeface="Montserrat" pitchFamily="2" charset="0"/>
              </a:rPr>
              <a:t> Node and Express on a VM we configure ourselves. No platform that hides the setup.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Workers:</a:t>
            </a:r>
            <a:r>
              <a:rPr lang="en-US" sz="1600" dirty="0">
                <a:latin typeface="Montserrat" pitchFamily="2" charset="0"/>
              </a:rPr>
              <a:t> Playwright, OCR and PDF work run on a schedule, off the request path.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Storage:</a:t>
            </a:r>
            <a:r>
              <a:rPr lang="en-US" sz="1600" dirty="0">
                <a:latin typeface="Montserrat" pitchFamily="2" charset="0"/>
              </a:rPr>
              <a:t> Private S3 bucket. Signed reads. Credential limited to put and get.</a:t>
            </a:r>
          </a:p>
          <a:p>
            <a:pPr>
              <a:spcAft>
                <a:spcPts val="992"/>
              </a:spcAft>
            </a:pPr>
            <a:r>
              <a:rPr lang="en-US" sz="1600" b="1" dirty="0">
                <a:latin typeface="Montserrat" pitchFamily="2" charset="0"/>
              </a:rPr>
              <a:t>Records:</a:t>
            </a:r>
            <a:r>
              <a:rPr lang="en-US" sz="1600" dirty="0">
                <a:latin typeface="Montserrat" pitchFamily="2" charset="0"/>
              </a:rPr>
              <a:t> Append-only metadata. Every published version keeps its address.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57" y="1410361"/>
            <a:ext cx="4025750" cy="31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Data and Sampling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3400000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Frame:</a:t>
            </a:r>
            <a:r>
              <a:rPr lang="en-US" sz="1400" dirty="0">
                <a:latin typeface="Montserrat" pitchFamily="2" charset="0"/>
              </a:rPr>
              <a:t> Ten institutions balanced by script region, with Thapar included as an expected-clean control.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Institutions:</a:t>
            </a:r>
            <a:r>
              <a:rPr lang="en-US" sz="1400" dirty="0">
                <a:latin typeface="Montserrat" pitchFamily="2" charset="0"/>
              </a:rPr>
              <a:t> Punjabi University, Panjab University, GNDU, PAU, NIEPVD Dehradun, Delhi, BHU, Kurukshetra, Lucknow.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Pilot:</a:t>
            </a:r>
            <a:r>
              <a:rPr lang="en-US" sz="1400" dirty="0">
                <a:latin typeface="Montserrat" pitchFamily="2" charset="0"/>
              </a:rPr>
              <a:t> Thirty pages in week 2. Three per institution, chosen by a fixed rule, never by preference.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Sizing:</a:t>
            </a:r>
            <a:r>
              <a:rPr lang="en-US" sz="1400" dirty="0">
                <a:latin typeface="Montserrat" pitchFamily="2" charset="0"/>
              </a:rPr>
              <a:t> Corpus set from measured minutes per page, not decided in advance.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Freeze:</a:t>
            </a:r>
            <a:r>
              <a:rPr lang="en-US" sz="1400" dirty="0">
                <a:latin typeface="Montserrat" pitchFamily="2" charset="0"/>
              </a:rPr>
              <a:t> Blind double annotation, kappa per script, evaluation set hashed before any tuning.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eff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57" y="1284334"/>
            <a:ext cx="4025751" cy="340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Performance and Security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1750000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806"/>
              </a:spcAft>
            </a:pPr>
            <a:r>
              <a:rPr lang="en-US" sz="1300" b="1" dirty="0">
                <a:latin typeface="Montserrat" pitchFamily="2" charset="0"/>
              </a:rPr>
              <a:t>Page:</a:t>
            </a:r>
            <a:r>
              <a:rPr lang="en-US" sz="1300" dirty="0">
                <a:latin typeface="Montserrat" pitchFamily="2" charset="0"/>
              </a:rPr>
              <a:t> Published page under 500 ms at the 95th percentile. No JavaScript needed to read the text.</a:t>
            </a:r>
          </a:p>
          <a:p>
            <a:pPr>
              <a:spcAft>
                <a:spcPts val="806"/>
              </a:spcAft>
            </a:pPr>
            <a:r>
              <a:rPr lang="en-US" sz="1300" b="1" dirty="0">
                <a:latin typeface="Montserrat" pitchFamily="2" charset="0"/>
              </a:rPr>
              <a:t>Analysis:</a:t>
            </a:r>
            <a:r>
              <a:rPr lang="en-US" sz="1300" dirty="0">
                <a:latin typeface="Montserrat" pitchFamily="2" charset="0"/>
              </a:rPr>
              <a:t> One page end to end under 90 seconds. A 300-page corpus re-run in under four hours. Crawler capped at one request per second per institution.</a:t>
            </a:r>
          </a:p>
          <a:p>
            <a:pPr>
              <a:spcAft>
                <a:spcPts val="806"/>
              </a:spcAft>
            </a:pPr>
            <a:r>
              <a:rPr lang="en-US" sz="1300" b="1" dirty="0">
                <a:latin typeface="Montserrat" pitchFamily="2" charset="0"/>
              </a:rPr>
              <a:t>Security:</a:t>
            </a:r>
            <a:r>
              <a:rPr lang="en-US" sz="1300" dirty="0">
                <a:latin typeface="Montserrat" pitchFamily="2" charset="0"/>
              </a:rPr>
              <a:t> Private bucket, signed reads, SHA-256 on every file. Admin is the only authenticated surface, on eight-hour tokens.</a:t>
            </a:r>
          </a:p>
          <a:p>
            <a:pPr>
              <a:spcAft>
                <a:spcPts val="806"/>
              </a:spcAft>
            </a:pPr>
            <a:r>
              <a:rPr lang="en-US" sz="1300" b="1" dirty="0">
                <a:latin typeface="Montserrat" pitchFamily="2" charset="0"/>
              </a:rPr>
              <a:t>By design:</a:t>
            </a:r>
            <a:r>
              <a:rPr lang="en-US" sz="1300" dirty="0">
                <a:latin typeface="Montserrat" pitchFamily="2" charset="0"/>
              </a:rPr>
              <a:t> No delete route. A published version cannot be removed, even by us.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07" y="3058409"/>
            <a:ext cx="6765651" cy="193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5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Quality Attributes and Risks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3400000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Reliability:</a:t>
            </a:r>
            <a:r>
              <a:rPr lang="en-US" sz="1400" dirty="0">
                <a:latin typeface="Montserrat" pitchFamily="2" charset="0"/>
              </a:rPr>
              <a:t> Idempotent analysis over immutable, hashed captures. Same capture, same finding.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Usability:</a:t>
            </a:r>
            <a:r>
              <a:rPr lang="en-US" sz="1400" dirty="0">
                <a:latin typeface="Montserrat" pitchFamily="2" charset="0"/>
              </a:rPr>
              <a:t> Our own site has to pass the audit we run on others.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Maintainability:</a:t>
            </a:r>
            <a:r>
              <a:rPr lang="en-US" sz="1400" dirty="0">
                <a:latin typeface="Montserrat" pitchFamily="2" charset="0"/>
              </a:rPr>
              <a:t> One module per class behind a shared interface. Named owner and second reader per component.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Top risks:</a:t>
            </a:r>
            <a:r>
              <a:rPr lang="en-US" sz="1400" dirty="0">
                <a:latin typeface="Montserrat" pitchFamily="2" charset="0"/>
              </a:rPr>
              <a:t> R1 annotation capacity and R3 OCR accuracy. Both mitigated by measurement, not optimism.</a:t>
            </a:r>
          </a:p>
          <a:p>
            <a:pPr>
              <a:spcAft>
                <a:spcPts val="868"/>
              </a:spcAft>
            </a:pPr>
            <a:r>
              <a:rPr lang="en-US" sz="1400" b="1" dirty="0">
                <a:latin typeface="Montserrat" pitchFamily="2" charset="0"/>
              </a:rPr>
              <a:t>Kill switch:</a:t>
            </a:r>
            <a:r>
              <a:rPr lang="en-US" sz="1400" dirty="0">
                <a:latin typeface="Montserrat" pitchFamily="2" charset="0"/>
              </a:rPr>
              <a:t> R7 if week 1 shows the defect is rare, we stop and report that.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fig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57" y="1366230"/>
            <a:ext cx="4025751" cy="324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5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Initial Planning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520000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558"/>
              </a:spcAft>
            </a:pPr>
            <a:r>
              <a:rPr lang="en-US" sz="900" b="1" dirty="0">
                <a:latin typeface="Montserrat" pitchFamily="2" charset="0"/>
              </a:rPr>
              <a:t/>
            </a:r>
            <a:r>
              <a:rPr lang="en-US" sz="900" dirty="0">
                <a:latin typeface="Montserrat" pitchFamily="2" charset="0"/>
              </a:rPr>
              <a:t>Seventeen weeks. Bars are tasks, dotted lines are dependencies, diamonds are milestones.</a:t>
            </a:r>
          </a:p>
          <a:p>
            <a:pPr>
              <a:spcAft>
                <a:spcPts val="558"/>
              </a:spcAft>
            </a:pPr>
            <a:r>
              <a:rPr lang="en-US" sz="900" b="1" dirty="0">
                <a:latin typeface="Montserrat" pitchFamily="2" charset="0"/>
              </a:rPr>
              <a:t/>
            </a:r>
            <a:r>
              <a:rPr lang="en-US" sz="900" dirty="0">
                <a:latin typeface="Montserrat" pitchFamily="2" charset="0"/>
              </a:rPr>
              <a:t>M0 kill check w1  |  M1 pilot w2  |  M2 kappa w6  |  M3 ground truth frozen w13  |  M4 results w14  |  M5 dataset w16  |  M6 defence w17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55" y="1668409"/>
            <a:ext cx="6802354" cy="335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93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Conclusion and References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 wrap="square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54"/>
              </a:spcAft>
            </a:pPr>
            <a:r>
              <a:rPr lang="en-US" sz="1700" b="1" dirty="0">
                <a:latin typeface="Montserrat" pitchFamily="2" charset="0"/>
              </a:rPr>
              <a:t>Summary:</a:t>
            </a:r>
            <a:r>
              <a:rPr lang="en-US" sz="1700" dirty="0">
                <a:latin typeface="Montserrat" pitchFamily="2" charset="0"/>
              </a:rPr>
              <a:t> Three classes nobody detects, on portals where accessibility is law. The labelled dataset is the artefact.</a:t>
            </a:r>
          </a:p>
          <a:p>
            <a:pPr>
              <a:spcAft>
                <a:spcPts val="1054"/>
              </a:spcAft>
            </a:pPr>
            <a:r>
              <a:rPr lang="en-US" sz="1700" b="1" dirty="0">
                <a:latin typeface="Montserrat" pitchFamily="2" charset="0"/>
              </a:rPr>
              <a:t>Feasibility:</a:t>
            </a:r>
            <a:r>
              <a:rPr lang="en-US" sz="1700" dirty="0">
                <a:latin typeface="Montserrat" pitchFamily="2" charset="0"/>
              </a:rPr>
              <a:t> Components are mature; annotation is the binding constraint. Fieldline was dropped on implementation risk.</a:t>
            </a:r>
          </a:p>
          <a:p>
            <a:pPr>
              <a:spcAft>
                <a:spcPts val="1054"/>
              </a:spcAft>
            </a:pPr>
            <a:r>
              <a:rPr lang="en-US" sz="1700" b="1" dirty="0">
                <a:latin typeface="Montserrat" pitchFamily="2" charset="0"/>
              </a:rPr>
              <a:t>Next steps:</a:t>
            </a:r>
            <a:r>
              <a:rPr lang="en-US" sz="1700" dirty="0">
                <a:latin typeface="Montserrat" pitchFamily="2" charset="0"/>
              </a:rPr>
              <a:t> Week 1: kill check and codebook v1. Week 2: the pilot, then the corpus size is fixed.</a:t>
            </a:r>
          </a:p>
          <a:p>
            <a:pPr>
              <a:spcAft>
                <a:spcPts val="1054"/>
              </a:spcAft>
            </a:pPr>
            <a:r>
              <a:rPr lang="en-US" sz="1700" b="1" dirty="0">
                <a:latin typeface="Montserrat" pitchFamily="2" charset="0"/>
              </a:rPr>
              <a:t>Two questions for you:</a:t>
            </a:r>
            <a:r>
              <a:rPr lang="en-US" sz="1700" dirty="0">
                <a:latin typeface="Montserrat" pitchFamily="2" charset="0"/>
              </a:rPr>
              <a:t> Is the class 2 ground-truth rule decidable as written, and is the Gurmukhi protocol acceptable with two in-team readers?</a:t>
            </a:r>
          </a:p>
          <a:p>
            <a:pPr>
              <a:spcAft>
                <a:spcPts val="1054"/>
              </a:spcAft>
            </a:pPr>
            <a:r>
              <a:rPr lang="en-US" sz="1700" b="1" dirty="0">
                <a:latin typeface="Montserrat" pitchFamily="2" charset="0"/>
              </a:rPr>
              <a:t>References:</a:t>
            </a:r>
            <a:r>
              <a:rPr lang="en-US" sz="1700" dirty="0">
                <a:latin typeface="Montserrat" pitchFamily="2" charset="0"/>
              </a:rPr>
              <a:t> W3C ACT ucwvc8; WCAG 2.2; GIGW 3.0; IS 17802; axe-core; Pa11y; Tesseract Indic; NVDA; Playwright; Kaur and Dani 2016; arXiv:1710.07899; arXiv:2009.06526; ACM DGOV 2024.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809998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387771"/>
      </a:accent1>
      <a:accent2>
        <a:srgbClr val="212121"/>
      </a:accent2>
      <a:accent3>
        <a:srgbClr val="9ECFCB"/>
      </a:accent3>
      <a:accent4>
        <a:srgbClr val="289C91"/>
      </a:accent4>
      <a:accent5>
        <a:srgbClr val="619792"/>
      </a:accent5>
      <a:accent6>
        <a:srgbClr val="384C4B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3CAB93-A709-4F24-8FE0-AD29C3B0469C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795</Words>
  <Application>Microsoft Office PowerPoint</Application>
  <PresentationFormat>On-screen Show (16:9)</PresentationFormat>
  <Paragraphs>99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Montserrat</vt:lpstr>
      <vt:lpstr>Proxima Nova Semibold</vt:lpstr>
      <vt:lpstr>Fira Sans Extra Condensed Medium</vt:lpstr>
      <vt:lpstr>Montserrat Light</vt:lpstr>
      <vt:lpstr>Arial</vt:lpstr>
      <vt:lpstr>Catamaran Light</vt:lpstr>
      <vt:lpstr>Proxima Nova</vt:lpstr>
      <vt:lpstr>Montserrat SemiBold</vt:lpstr>
      <vt:lpstr>Livvic</vt:lpstr>
      <vt:lpstr>Engineering Project Proposal by Slidesgo</vt:lpstr>
      <vt:lpstr>SlidesGo Final Pages</vt:lpstr>
      <vt:lpstr>UCS503 Project Name Team Name</vt:lpstr>
      <vt:lpstr>TABLE OF CONTENTS</vt:lpstr>
      <vt:lpstr> Introduction</vt:lpstr>
      <vt:lpstr>Project Scope</vt:lpstr>
      <vt:lpstr>Proposed Functions</vt:lpstr>
      <vt:lpstr>Target Users</vt:lpstr>
      <vt:lpstr> System Features</vt:lpstr>
      <vt:lpstr>Interfaces</vt:lpstr>
      <vt:lpstr>Performance Goals</vt:lpstr>
      <vt:lpstr>Security Measures</vt:lpstr>
      <vt:lpstr>Quality Attributes</vt:lpstr>
      <vt:lpstr>Initial Planning</vt:lpstr>
      <vt:lpstr>Conclusion</vt:lpstr>
      <vt:lpstr>References</vt:lpstr>
      <vt:lpstr>PowerPoint Presentation</vt:lpstr>
      <vt:lpstr>Use our editable graphic resources...</vt:lpstr>
      <vt:lpstr>...and our set of editable icons</vt:lpstr>
      <vt:lpstr>Educational Icons</vt:lpstr>
      <vt:lpstr>Business Icons</vt:lpstr>
      <vt:lpstr>Help &amp; Support Icons</vt:lpstr>
      <vt:lpstr>Creative Process Icons</vt:lpstr>
      <vt:lpstr>Nature Icons</vt:lpstr>
      <vt:lpstr>SEO &amp; Marketing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Sukhpal Singh</dc:creator>
  <cp:lastModifiedBy>Sukhpal Singh</cp:lastModifiedBy>
  <cp:revision>7</cp:revision>
  <dcterms:modified xsi:type="dcterms:W3CDTF">2024-08-19T08:17:12Z</dcterms:modified>
</cp:coreProperties>
</file>